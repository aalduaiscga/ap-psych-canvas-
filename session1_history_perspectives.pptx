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A9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PSYCHOLOGY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9144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of Psychology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Perspectives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·  Unit 0 — Science Practices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709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Ahmed Alduais, PhD  ·  a.alduais@cga.school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92640" y="3291840"/>
            <a:ext cx="2011680" cy="2011680"/>
          </a:xfrm>
          <a:prstGeom prst="ellipse">
            <a:avLst/>
          </a:prstGeom>
          <a:solidFill>
            <a:srgbClr val="5A3E78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0" y="3931920"/>
            <a:ext cx="822960" cy="822960"/>
          </a:xfrm>
          <a:prstGeom prst="ellipse">
            <a:avLst/>
          </a:prstGeom>
          <a:solidFill>
            <a:srgbClr val="A8123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5A3E7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325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perspectives matter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664208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psychologists explain the same behavior in different ways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502920" cy="502920"/>
          </a:xfrm>
          <a:prstGeom prst="ellipse">
            <a:avLst/>
          </a:prstGeom>
          <a:solidFill>
            <a:srgbClr val="5A3E7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286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eight perspectives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624328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Psychodynamic, biological, evolutionary, cognitive, humanistic, behavioral, sociocultural, biopsychosocial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502920" cy="502920"/>
          </a:xfrm>
          <a:prstGeom prst="ellipse">
            <a:avLst/>
          </a:prstGeom>
          <a:solidFill>
            <a:srgbClr val="5A3E7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3246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perspectives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584448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one behavior — extroversion — to compare every lens side by side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251960"/>
            <a:ext cx="502920" cy="502920"/>
          </a:xfrm>
          <a:prstGeom prst="ellipse">
            <a:avLst/>
          </a:prstGeom>
          <a:solidFill>
            <a:srgbClr val="5A3E7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206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eclectic approach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544568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most psychologists combine perspectives rather than pick just one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perspectives matter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6583680" cy="3566160"/>
          </a:xfrm>
          <a:prstGeom prst="roundRect">
            <a:avLst>
              <a:gd name="adj" fmla="val 2051"/>
            </a:avLst>
          </a:prstGeom>
          <a:solidFill>
            <a:srgbClr val="FAFAF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600200"/>
            <a:ext cx="5943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perspective explains all of human thought and behavior.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C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Contemporary psychologists group their explanations into eight broad perspectives. Each one asks a different question about the same behavior — none is simply "right" or "wrong."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C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AP exam, you will often be given a behavior and asked to identify, apply, or compare these perspectives.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89520" y="1280160"/>
            <a:ext cx="3657600" cy="3566160"/>
          </a:xfrm>
          <a:prstGeom prst="roundRect">
            <a:avLst>
              <a:gd name="adj" fmla="val 2051"/>
            </a:avLst>
          </a:prstGeom>
          <a:solidFill>
            <a:srgbClr val="1B1F3B"/>
          </a:solidFill>
          <a:ln/>
        </p:spPr>
      </p:sp>
      <p:sp>
        <p:nvSpPr>
          <p:cNvPr id="6" name="Text 4"/>
          <p:cNvSpPr/>
          <p:nvPr/>
        </p:nvSpPr>
        <p:spPr>
          <a:xfrm>
            <a:off x="7909560" y="1554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9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EXAMPLE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909560" y="1874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Extroversion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09560" y="242316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explain the same trait — being outgoing — through every perspective in this session, so you can see exactly how each one differs.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A3E7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Psychodynamic Perspective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Rooted in the work of Sigmund Freud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10908792" cy="1371600"/>
          </a:xfrm>
          <a:prstGeom prst="roundRect">
            <a:avLst>
              <a:gd name="adj" fmla="val 4667"/>
            </a:avLst>
          </a:prstGeom>
          <a:solidFill>
            <a:srgbClr val="FAFAF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371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A3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1627632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psychodynamic perspective explains thought and behavior as the product of unconscious conflicts, drives, and motives — often originating in early childhood experiences. Behavior is seen as a surface expression of deeper, hidden mental processes.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5349240" cy="2194560"/>
          </a:xfrm>
          <a:prstGeom prst="roundRect">
            <a:avLst>
              <a:gd name="adj" fmla="val 2917"/>
            </a:avLst>
          </a:prstGeom>
          <a:solidFill>
            <a:srgbClr val="1B1F3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0779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9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EXAMPLE — EXTROVERSION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200400"/>
            <a:ext cx="4892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psychodynamic psychologist would look beneath the surface, asking whether early childhood experiences or unconscious motives — rather than the trait itself — drive a person's outgoing behavior.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99632" y="2743200"/>
            <a:ext cx="5349240" cy="2194560"/>
          </a:xfrm>
          <a:prstGeom prst="roundRect">
            <a:avLst>
              <a:gd name="adj" fmla="val 2917"/>
            </a:avLst>
          </a:prstGeom>
          <a:solidFill>
            <a:srgbClr val="FAFAF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90779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3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EXAMPLE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28232" y="3200400"/>
            <a:ext cx="4892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 who always picks fights with authority figures at work may, without realizing it, be reliving unresolved conflict with a strict parent from childhood — the boss becomes a stand-in for that old relationship.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F5F7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Biopsychological Perspective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the biological perspective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10908792" cy="1371600"/>
          </a:xfrm>
          <a:prstGeom prst="roundRect">
            <a:avLst>
              <a:gd name="adj" fmla="val 4667"/>
            </a:avLst>
          </a:prstGeom>
          <a:solidFill>
            <a:srgbClr val="FAFAF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371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1627632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perspective explains thought and behavior strictly in terms of biological processes — genetics, hormones, and neurotransmitter activity. Biopsychology is one of the fastest-growing areas in the field, as brain-imaging technology continues to advance.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5349240" cy="2194560"/>
          </a:xfrm>
          <a:prstGeom prst="roundRect">
            <a:avLst>
              <a:gd name="adj" fmla="val 2917"/>
            </a:avLst>
          </a:prstGeom>
          <a:solidFill>
            <a:srgbClr val="1B1F3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0779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9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EXAMPLE — EXTROVERSION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200400"/>
            <a:ext cx="4892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biopsychologist would explain extroversion as a genetically inherited trait, possibly linked to differences in neurotransmitter levels that make social interaction more rewarding for some people than others.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99632" y="2743200"/>
            <a:ext cx="5349240" cy="2194560"/>
          </a:xfrm>
          <a:prstGeom prst="roundRect">
            <a:avLst>
              <a:gd name="adj" fmla="val 2917"/>
            </a:avLst>
          </a:prstGeom>
          <a:solidFill>
            <a:srgbClr val="FAFAF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90779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EXAMPLE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28232" y="3200400"/>
            <a:ext cx="4892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teenager who feels anxious and shaky before every exam, even when well-prepared, may have a biological tendency toward heightened cortisol release under stress — a pattern that can run in families.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D6B4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Evolutionary Perspective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the Darwinian perspective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10908792" cy="1371600"/>
          </a:xfrm>
          <a:prstGeom prst="roundRect">
            <a:avLst>
              <a:gd name="adj" fmla="val 4667"/>
            </a:avLst>
          </a:prstGeom>
          <a:solidFill>
            <a:srgbClr val="FAFAF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371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D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1627632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Evolutionary psychologists — sometimes called sociobiologists — examine thought and behavior in terms of natural selection. Traits that improved survival or reproduction in our ancestors are passed down through generations, even today.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5349240" cy="2194560"/>
          </a:xfrm>
          <a:prstGeom prst="roundRect">
            <a:avLst>
              <a:gd name="adj" fmla="val 2917"/>
            </a:avLst>
          </a:prstGeom>
          <a:solidFill>
            <a:srgbClr val="1B1F3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0779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9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EXAMPLE — EXTROVERSION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200400"/>
            <a:ext cx="4892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evolutionary psychologist would argue that being outgoing helped early humans form alliances and friendships, improving their chances of survival — so the trait persisted and was passed to offspring.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99632" y="2743200"/>
            <a:ext cx="5349240" cy="2194560"/>
          </a:xfrm>
          <a:prstGeom prst="roundRect">
            <a:avLst>
              <a:gd name="adj" fmla="val 2917"/>
            </a:avLst>
          </a:prstGeom>
          <a:solidFill>
            <a:srgbClr val="FAFAF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90779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D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EXAMPLE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28232" y="3200400"/>
            <a:ext cx="4892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instinctively flinch or jump back at the sudden sight of a snake-like shape, even a harmless rubber hose — a fast fear response that likely protected our ancestors from venomous snakes.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8A5A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Cognitive Perspective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mental processing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10908792" cy="1371600"/>
          </a:xfrm>
          <a:prstGeom prst="roundRect">
            <a:avLst>
              <a:gd name="adj" fmla="val 4667"/>
            </a:avLst>
          </a:prstGeom>
          <a:solidFill>
            <a:srgbClr val="FAFAF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371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A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1627632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psychologists examine thought and behavior in terms of how people interpret, process, and remember events. The mental rules a person uses to view the world are central to explaining why they think and act as they do.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5349240" cy="2194560"/>
          </a:xfrm>
          <a:prstGeom prst="roundRect">
            <a:avLst>
              <a:gd name="adj" fmla="val 2917"/>
            </a:avLst>
          </a:prstGeom>
          <a:solidFill>
            <a:srgbClr val="1B1F3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0779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9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EXAMPLE — EXTROVERSION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200400"/>
            <a:ext cx="4892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cognitive psychologist would ask how a person interprets social situations — does this person see conversation as a valuable opportunity to connect, which makes being outgoing feel rewarding?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99632" y="2743200"/>
            <a:ext cx="5349240" cy="2194560"/>
          </a:xfrm>
          <a:prstGeom prst="roundRect">
            <a:avLst>
              <a:gd name="adj" fmla="val 2917"/>
            </a:avLst>
          </a:prstGeom>
          <a:solidFill>
            <a:srgbClr val="FAFAF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90779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EXAMPLE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28232" y="3200400"/>
            <a:ext cx="4892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students receive the same low grade on a test. One thinks, "I'm just bad at this subject," and gives up; the other thinks, "I need a better study strategy," and tries again. The grade was identical — the interpretation wasn't.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9A5C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Humanistic Perspective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Abraham Maslow and Carl Rogers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10908792" cy="1371600"/>
          </a:xfrm>
          <a:prstGeom prst="roundRect">
            <a:avLst>
              <a:gd name="adj" fmla="val 4667"/>
            </a:avLst>
          </a:prstGeom>
          <a:solidFill>
            <a:srgbClr val="FAFAF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371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1627632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Humanists stress individual choice and free will, contrasting sharply with deterministic perspectives like behaviorism. People are seen as choosing most of their behaviors, guided by physiological, emotional, or spiritual needs.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5349240" cy="2194560"/>
          </a:xfrm>
          <a:prstGeom prst="roundRect">
            <a:avLst>
              <a:gd name="adj" fmla="val 2917"/>
            </a:avLst>
          </a:prstGeom>
          <a:solidFill>
            <a:srgbClr val="1B1F3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0779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9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EXAMPLE — EXTROVERSION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200400"/>
            <a:ext cx="4892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humanistic psychologist would see extroversion as a freely chosen behavior — the person chooses to be outgoing because it satisfies a deeper emotional or social need for connection.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99632" y="2743200"/>
            <a:ext cx="5349240" cy="2194560"/>
          </a:xfrm>
          <a:prstGeom prst="roundRect">
            <a:avLst>
              <a:gd name="adj" fmla="val 2917"/>
            </a:avLst>
          </a:prstGeom>
          <a:solidFill>
            <a:srgbClr val="FAFAF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90779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EXAMPLE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28232" y="3200400"/>
            <a:ext cx="4892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college student turns down a high-paying job offer to pursue a low-paying but personally meaningful career in art, because earning more money doesn't matter to them as much as living authentically.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A812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Behavioral Perspective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observable behavior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10908792" cy="1371600"/>
          </a:xfrm>
          <a:prstGeom prst="roundRect">
            <a:avLst>
              <a:gd name="adj" fmla="val 4667"/>
            </a:avLst>
          </a:prstGeom>
          <a:solidFill>
            <a:srgbClr val="FAFAF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371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81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1627632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Behaviorists explain thought and behavior purely in terms of conditioning — looking only at observable behaviors and responses to stimuli. Internal mental states are not part of the explanation; only reward, punishment, and environmental conditions matter.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5349240" cy="2194560"/>
          </a:xfrm>
          <a:prstGeom prst="roundRect">
            <a:avLst>
              <a:gd name="adj" fmla="val 2917"/>
            </a:avLst>
          </a:prstGeom>
          <a:solidFill>
            <a:srgbClr val="1B1F3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0779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9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EXAMPLE — EXTROVERSION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200400"/>
            <a:ext cx="4892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behaviorist would ask: was this person rewarded for being outgoing in the past? Was withdrawing from social situations ever punished? The environment, not internal thought, shaped the behavior.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99632" y="2743200"/>
            <a:ext cx="5349240" cy="2194560"/>
          </a:xfrm>
          <a:prstGeom prst="roundRect">
            <a:avLst>
              <a:gd name="adj" fmla="val 2917"/>
            </a:avLst>
          </a:prstGeom>
          <a:solidFill>
            <a:srgbClr val="FAFAF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90779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81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EXAMPLE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28232" y="3200400"/>
            <a:ext cx="4892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dog that hears the sound of a treat bag rustling will come running every time — not because it "understands" treats, but because that sound has repeatedly been followed by a reward in the past.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6B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Sociocultural Perspective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the social-cultural perspective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10908792" cy="1371600"/>
          </a:xfrm>
          <a:prstGeom prst="roundRect">
            <a:avLst>
              <a:gd name="adj" fmla="val 4667"/>
            </a:avLst>
          </a:prstGeom>
          <a:solidFill>
            <a:srgbClr val="FAFAF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371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1627632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Sociocultural psychologists examine how thought and behavior vary across cultures, emphasizing the powerful influence of cultural norms — including expectations about personal space, touch, and individualism versus group identity.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5349240" cy="2194560"/>
          </a:xfrm>
          <a:prstGeom prst="roundRect">
            <a:avLst>
              <a:gd name="adj" fmla="val 2917"/>
            </a:avLst>
          </a:prstGeom>
          <a:solidFill>
            <a:srgbClr val="1B1F3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0779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9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EXAMPLE — EXTROVERSION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200400"/>
            <a:ext cx="4892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sociocultural psychologist would examine the person's culture: how much value does it place on group belonging versus individuality? Cultural norms around social interaction shape how extroversion is expressed.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99632" y="2743200"/>
            <a:ext cx="5349240" cy="2194560"/>
          </a:xfrm>
          <a:prstGeom prst="roundRect">
            <a:avLst>
              <a:gd name="adj" fmla="val 2917"/>
            </a:avLst>
          </a:prstGeom>
          <a:solidFill>
            <a:srgbClr val="FAFAF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90779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EXAMPLE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28232" y="3200400"/>
            <a:ext cx="4892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some cultures, maintaining eye contact with an elder is seen as respectful and confident; in others, the same behavior is considered rude or defiant. Neither person is wrong — their cultures simply taught different norms.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A3E7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Biopsychosocial Perspective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integrative, modern perspective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10908792" cy="1371600"/>
          </a:xfrm>
          <a:prstGeom prst="roundRect">
            <a:avLst>
              <a:gd name="adj" fmla="val 4667"/>
            </a:avLst>
          </a:prstGeom>
          <a:solidFill>
            <a:srgbClr val="FAFAF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371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A3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1627632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perspective acknowledges that thought and behavior result from a combination of biological, psychological, and social factors together. Psychologists who favor this view see single-factor perspectives as reductionistic — too narrowly focused.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5349240" cy="2194560"/>
          </a:xfrm>
          <a:prstGeom prst="roundRect">
            <a:avLst>
              <a:gd name="adj" fmla="val 2917"/>
            </a:avLst>
          </a:prstGeom>
          <a:solidFill>
            <a:srgbClr val="1B1F3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0779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9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EXAMPLE — EXTROVERSION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200400"/>
            <a:ext cx="4892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biopsychosocial psychologist would combine all three: a genetic tendency toward extroversion, a history of conditioning toward outgoing behavior, and social pressures — such as conformity — together, not separately.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99632" y="2743200"/>
            <a:ext cx="5349240" cy="2194560"/>
          </a:xfrm>
          <a:prstGeom prst="roundRect">
            <a:avLst>
              <a:gd name="adj" fmla="val 2917"/>
            </a:avLst>
          </a:prstGeom>
          <a:solidFill>
            <a:srgbClr val="FAFAF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90779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3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EXAMPLE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28232" y="3200400"/>
            <a:ext cx="4892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student's chronic headaches might stem from a genetic migraine tendency (bio), constant worry about grades (psycho), and pressure from a highly competitive school environment (social) — all three feeding the same symptom.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eclectic approach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psychologists don't commit permanently to one perspective — they use whichever explanation fits the situation best.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6400800" cy="3840480"/>
        </p:xfrm>
        <a:graphic>
          <a:graphicData uri="http://schemas.openxmlformats.org/drawingml/2006/table">
            <a:tbl>
              <a:tblPr/>
              <a:tblGrid>
                <a:gridCol w="2377440"/>
                <a:gridCol w="402336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Perspective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Focus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Psychodynamic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Unconscious conflicts and early experiences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Biopsychological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Genetics, hormones, neurotransmitters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Evolutionary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selection and survival advantage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Cognitive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Interpretation, processing, and memory of events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Humanistic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will and choice toward self-actualization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Conditioning and observable stimulus-response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Sociocultural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Cultural norms and cross-cultural variation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Biopsychosocial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of biological, psychological, social factors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508760"/>
            <a:ext cx="4206240" cy="3840480"/>
          </a:xfrm>
          <a:prstGeom prst="roundRect">
            <a:avLst>
              <a:gd name="adj" fmla="val 1905"/>
            </a:avLst>
          </a:prstGeom>
          <a:solidFill>
            <a:srgbClr val="1B1F3B"/>
          </a:solidFill>
          <a:ln/>
        </p:spPr>
      </p:sp>
      <p:sp>
        <p:nvSpPr>
          <p:cNvPr id="6" name="Text 3"/>
          <p:cNvSpPr/>
          <p:nvPr/>
        </p:nvSpPr>
        <p:spPr>
          <a:xfrm>
            <a:off x="7589520" y="1783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9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589520" y="2103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Eclectic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589520" y="2697480"/>
            <a:ext cx="3611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psychologist who does not commit to a single perspective, but instead draws on whichever perspective — or combination of perspectives — best explains the situation at hand.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A812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Thinking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08792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1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 friend has suddenly stopped returning calls, dropped out of their usual group activities, and seems withdrawn at school.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5C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reaching a conclusion about why this is happening, consider: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Pick any two of the eight perspectives from this session. How would each one explain your friend's withdrawal differently?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single perspective feels like the most complete explanation on its own — and what might it be missing?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Why might an eclectic approach, combining several perspectives, lead to better support for your friend than relying on just one?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64592" cy="164592"/>
          </a:xfrm>
          <a:prstGeom prst="ellipse">
            <a:avLst/>
          </a:prstGeom>
          <a:solidFill>
            <a:srgbClr val="A8123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444752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A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perspectives, one behavior: psychodynamic, biopsychological, evolutionary, cognitive, humanistic, behavioral, sociocultural, and biopsychosocial each explain behavior differently.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64592" cy="164592"/>
          </a:xfrm>
          <a:prstGeom prst="ellipse">
            <a:avLst/>
          </a:prstGeom>
          <a:solidFill>
            <a:srgbClr val="A8123E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313432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A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perspective is complete on its own — each highlights a different layer of explanation.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337560"/>
            <a:ext cx="164592" cy="164592"/>
          </a:xfrm>
          <a:prstGeom prst="ellipse">
            <a:avLst/>
          </a:prstGeom>
          <a:solidFill>
            <a:srgbClr val="A8123E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182112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A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working psychologists are eclectic, applying whichever perspective fits the case at hand.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206240"/>
            <a:ext cx="164592" cy="164592"/>
          </a:xfrm>
          <a:prstGeom prst="ellipse">
            <a:avLst/>
          </a:prstGeom>
          <a:solidFill>
            <a:srgbClr val="A8123E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4050792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A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exam, watch for perspective-specific vocabulary in the question stem — it signals which perspective the correct answer should reflect.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 — History of Psychology and Perspectives</dc:title>
  <dc:subject>PptxGenJS Presentation</dc:subject>
  <dc:creator>Dr Ahmed Alduais</dc:creator>
  <cp:lastModifiedBy>Dr Ahmed Alduais</cp:lastModifiedBy>
  <cp:revision>1</cp:revision>
  <dcterms:created xsi:type="dcterms:W3CDTF">2026-06-29T09:57:11Z</dcterms:created>
  <dcterms:modified xsi:type="dcterms:W3CDTF">2026-06-29T09:57:11Z</dcterms:modified>
</cp:coreProperties>
</file>